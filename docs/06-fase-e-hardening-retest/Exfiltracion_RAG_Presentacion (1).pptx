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111A3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914400"/>
            <a:ext cx="914400" cy="9144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87325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4964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Colombiana de Ingeniería Julio Garavito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Exfiltración de información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mediante sistemas RAG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usuario, rol y clasificación en un asistente conversacional con Retrieval Augmented Generation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219456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8348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6L · Ciberseguridad y Desarrollo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Caballero Castellanos  ·  Robinson Steven Nuñez Portela  ·  Oscar Andrés Sánchez Porras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Fundamentos de Seguridad de la Información  ·  Profesora: Tatiana Marcela Gómez Sarmiento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 de 3  · 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asistentes corporativos usan cada vez más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 Augmented Generation)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responder con base en documentos internos, en lugar de depender solo del entrenamiento del modelo.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motor de recuperación no respeta los permisos de cada usuario, el asistente puede exponer fragmentos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restringidos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personas que jamás deberían haber tenido acceso a ellos.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clasifica este riesgo dentro de su listado de riesgos críticos para aplicaciones basadas en LLM, en la categoría de debilidades de vectores e incrustaciones.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26680" y="178308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2971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 asistente RAG básico, diseña ataques de exfiltración controlados contra él, y evalúa controles de acceso por usuario, rol y clasificación.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4572000"/>
            <a:ext cx="3657600" cy="0"/>
          </a:xfrm>
          <a:prstGeom prst="line">
            <a:avLst/>
          </a:prstGeom>
          <a:noFill/>
          <a:ln w="12700">
            <a:solidFill>
              <a:srgbClr val="2C3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4709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03920" y="47731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0" y="4709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0881360" y="477316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probados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1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evaluar mecanismos de control de acceso para un sistema RAG que impidan la exfiltración de documentos restringidos hacia usuarios sin los permisos correspondientes.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la arquitectura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puntos de un sistema RAG donde puede producirse una fuga de información.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escenarios de prueba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42062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Intentar recuperar documentos restringidos mediante consultas directas e indirectas.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filtros de acceso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42062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controles por usuario, por rol y por nivel de clasificación de la información.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6060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3544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efectividad y límites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35440" y="420624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los filtros frente a técnicas de evasión conocidas en la literatura.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zonas con niveles de confianza distintos: el cliente, la infraestructura propia del proyecto, y el LLM de terceros.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pic>
        <p:nvPicPr>
          <p:cNvPr id="6" name="Image 0" descr="da_r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83080"/>
            <a:ext cx="1060704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32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Vercel — solo interfaz, sin lógica de autorización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83280" y="5532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RAG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5806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LangChain4j — concentra toda la seguridad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5532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5806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/ pgvector — embeddings + metadatos de clasificación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052560" y="5532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externo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052560" y="5806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 API — fuera del perímetro, sin control posible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amenazas — DFD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690372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pic>
        <p:nvPicPr>
          <p:cNvPr id="5" name="Image 0" descr="dfd_r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65379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 de confianza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5544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6213E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Cliente → Backend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63840" y="193852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del cliente es confiable, incluido el rol declarado. Aquí entran los 3 vectores de ataque del proyecto.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32461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63946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355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Backend → LLM externo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63840" y="363016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irreversible: un fragmento enviado ya no puede controlarse. Solo debe cruzar lo que el usuario ya puede ver.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4846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sin frontera: envenenamiento del vector store (R-04) e inversión de incrustaciones (R-05), que atacan los almacenes directamente.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vectores de ataque evaluados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entran por la frontera cliente → backend, descrita en el modelo de amenazas.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E2A4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directa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explícitamente el contenido de un documento restringido.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3063240" cy="0"/>
          </a:xfrm>
          <a:prstGeom prst="line">
            <a:avLst/>
          </a:prstGeom>
          <a:noFill/>
          <a:ln w="12700">
            <a:solidFill>
              <a:srgbClr val="334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257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neutraliza filtrando en la recuperación (Avance 2).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E2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214884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Reformulación evasiva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474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un resumen o paráfrasis para evitar filtros por palabra clave.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5074920"/>
            <a:ext cx="3063240" cy="0"/>
          </a:xfrm>
          <a:prstGeom prst="line">
            <a:avLst/>
          </a:prstGeom>
          <a:noFill/>
          <a:ln w="12700">
            <a:solidFill>
              <a:srgbClr val="334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5257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 </a:t>
            </a:r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5623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neutraliza filtrando en la recuperación (Avance 2).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1E2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2148840"/>
            <a:ext cx="594360" cy="594360"/>
          </a:xfrm>
          <a:prstGeom prst="ellipse">
            <a:avLst/>
          </a:prstGeom>
          <a:solidFill>
            <a:srgbClr val="6E8CAD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instrucciones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3474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una orden que le pida al modelo ignorar las restricciones configuradas.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5074920"/>
            <a:ext cx="3063240" cy="0"/>
          </a:xfrm>
          <a:prstGeom prst="line">
            <a:avLst/>
          </a:prstGeom>
          <a:noFill/>
          <a:ln w="12700">
            <a:solidFill>
              <a:srgbClr val="3343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5257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 </a:t>
            </a:r>
            <a:pPr indent="0" marL="0">
              <a:buNone/>
            </a:pPr>
            <a:r>
              <a:rPr lang="en-US" sz="1300" b="1" dirty="0">
                <a:solidFill>
                  <a:srgbClr val="6E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5623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al modelo, no al recuperador: refuerzo de prompt (Avance 3).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riesgos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Apetito de riesgo: ningún usuario sin permisos puede recibir contenido confidencial o secreto, bajo ningún escenario de prueba.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63440"/>
                <a:gridCol w="1554480"/>
                <a:gridCol w="73152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directa a documentos restringidos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Crítico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y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Reformulación evasiva para evadir filtros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Crítico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y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de instrucciones (prompt injection)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y prompt eng.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Envenenamiento del almacén vectorial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e ingesta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de incrustaciones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de credenciales del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el 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de fragmentos en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con probabilidad, impacto y tratamiento: risk-register.md (9 riesgos, R-01 a R-09)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 cualitativa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237744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12064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8686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= probabilidad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1737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737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08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37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Alto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737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Crítico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R-01, R-02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2880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880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Bajo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20640" y="2880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880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Medio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R-06, R-09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0" y="2880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08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880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Alto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440" y="4023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023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Bajo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20640" y="4023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023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Medio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R-05, R-08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63840" y="40233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08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40233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Alto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 y R-02 concentran el mayor riesgo del sistema sin filtrado: son el foco del Avance 2.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para mitigar los riesgos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esfuerzo por control, convertida a pesos colombianos con una tarifa ilustrativa de $30.000 COP/hora (perfil junior). El stack es 100% open source, sin costo de licencias.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  <a:gridCol w="1371600"/>
                <a:gridCol w="265176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propuesto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Esfuerzo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estimado (COP)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 / R-02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Filtrado por usuario, rol y clasificación en la recuperación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 h dev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$360.000 – $480.000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Refuerzo del system prompt + validación de la respuesta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16–20 h dev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$480.000 – $600.000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fuentes en la ingesta y monitoreo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20–24 h dev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$600.000 – $720.000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en reposo del vector store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h config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$180.000 – $240.000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periódica de roles y expiración de sesión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h dev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$240.000 – $300.000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de entorno y .gitignore para credenciales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(hecho)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 a logs y retención limitada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h dev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$240.000 – $300.000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42239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 h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286000" y="5486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horas-persona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estimadas en total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5468112"/>
            <a:ext cx="0" cy="594360"/>
          </a:xfrm>
          <a:prstGeom prst="line">
            <a:avLst/>
          </a:prstGeom>
          <a:noFill/>
          <a:ln w="12700">
            <a:solidFill>
              <a:srgbClr val="2C3E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542239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$2.550.000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720840" y="5486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estimado en total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(desarrollo, tarifa ilustrativa)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915400" y="5468112"/>
            <a:ext cx="0" cy="594360"/>
          </a:xfrm>
          <a:prstGeom prst="line">
            <a:avLst/>
          </a:prstGeom>
          <a:noFill/>
          <a:ln w="12700">
            <a:solidFill>
              <a:srgbClr val="2C3E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98280" y="5422392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104120" y="54864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licencias o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de esfuerzo para fines académicos, con tarifa ilustrativa de $30.000 COP/hora (perfil junior); no sustituyen una cotización real.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tres fases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103120"/>
            <a:ext cx="9784080" cy="0"/>
          </a:xfrm>
          <a:prstGeom prst="line">
            <a:avLst/>
          </a:prstGeom>
          <a:noFill/>
          <a:ln w="38100">
            <a:solidFill>
              <a:srgbClr val="D6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65960"/>
            <a:ext cx="274320" cy="27432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1460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743200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prueba y pipeline RAG básico sin filtrado. Demostración de los 3 ataques de exfiltración.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5166360"/>
            <a:ext cx="2651760" cy="0"/>
          </a:xfrm>
          <a:prstGeom prst="line">
            <a:avLst/>
          </a:prstGeom>
          <a:noFill/>
          <a:ln w="12700">
            <a:solidFill>
              <a:srgbClr val="E1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303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 </a:t>
            </a:r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inherente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274320" cy="274320"/>
          </a:xfrm>
          <a:prstGeom prst="ellipse">
            <a:avLst/>
          </a:prstGeom>
          <a:solidFill>
            <a:srgbClr val="3E5C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51460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74320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6636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34290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en la recuperación por usuario, rol y clasificación. Métrica de ventaja de acceso.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5166360"/>
            <a:ext cx="2651760" cy="0"/>
          </a:xfrm>
          <a:prstGeom prst="line">
            <a:avLst/>
          </a:prstGeom>
          <a:noFill/>
          <a:ln w="12700">
            <a:solidFill>
              <a:srgbClr val="E1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5303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 </a:t>
            </a:r>
            <a:pPr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R-01, R-02, R-06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1965960"/>
            <a:ext cx="274320" cy="27432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251460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27432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0" y="34290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 del mensaje del sistema, validación de la respuesta y análisis de riesgo residual.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5166360"/>
            <a:ext cx="2651760" cy="0"/>
          </a:xfrm>
          <a:prstGeom prst="line">
            <a:avLst/>
          </a:prstGeom>
          <a:noFill/>
          <a:ln w="12700">
            <a:solidFill>
              <a:srgbClr val="E1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5303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 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R-03, R-04, R-05, R-09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proyecto: en desarrollo — Avance 1 de 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futuro: escáner automatizado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automatizar la búsqueda de estas vulnerabilidades en cualquier RAG de una compañía?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es una línea conocida como LLM Security Assessment o AI Red Teaming automatizado.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funcionaría?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042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Bombardeo de endpoints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5292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recorre una lista de APIs RAG de la compañía enviando patrones conocidos: jailbreaks, prompt injection, y consultas de un rol bajo pidiendo datos de otra área.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3042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respuesta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285292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inspecciona el JSON de cada respuesta HTTP buscando contenido clasificado como confidencial o secreto que no correspondía a ese rol.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2860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23042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hallazgos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66760" y="285292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fuga detectada se marca como 'Vulnerabilidad de exfiltración RAG' en un dashboard o CSV, igual que un reporte de pentest tradicional.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técnico: caja negra vs. caja blanca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988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tiene la URL del chat; no se conoce el código ni los metadatos internos del RAG. El script debe adivinar o "fuzzear" preguntas para deducir si hay fuga de información.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38912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498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blanca — este proyecto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4800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escáner conoce exactamente qué documentos existen en el corpus y sus niveles de clasificación, así que puede comparar con precisión quirúrgica si la respuesta del LLM violó el control de acceso.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 extensión: automatizar los ataques de ataques-demo/ contra múltiples endpoints y generar un reporte tipo pentest, reutilizando el corpus clasificado como ground truth de caja blanca.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diseño de seguridad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6400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filtrado ocurre antes de la generación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019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después: una vez enviado un fragmento al LLM externo, ya no hay control posible sobre él.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87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frontend, separados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del LLM y la lógica de autorización nunca llegan al navegador.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639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viaja con cada consulta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0050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no confía en el rol que declara el cliente; la sesión autenticada es la fuente de verdad.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908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tráfico va cifrado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0566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y TLS tanto del cliente al backend como del backend al LLM.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2C3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material fue creado con datos sintéticos, en un entorno controlado y autorizado para fines académicos.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de información mediante RAG  ·  Fundamentos de Seguridad de la Información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2026-09-19T13:37:51Z</dcterms:created>
  <dcterms:modified xsi:type="dcterms:W3CDTF">2026-09-19T13:37:51Z</dcterms:modified>
</cp:coreProperties>
</file>